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7315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rone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37160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103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Poppins"/>
              </a:rPr>
              <a:t>Fronei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E8A33D"/>
                </a:solidFill>
                <a:latin typeface="Poppins"/>
              </a:rPr>
              <a:t>Brand Design System — Full Component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AF7F0"/>
                </a:solidFill>
                <a:latin typeface="Lato"/>
              </a:rPr>
              <a:t>Prepared for Template QA &amp; Design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rone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371600" cy="548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77240" y="2377440"/>
            <a:ext cx="1097280" cy="292608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6829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B4F4A"/>
                </a:solidFill>
                <a:latin typeface="Lato"/>
              </a:rPr>
              <a:t>SECTION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oppins"/>
              </a:rPr>
              <a:t>Market Overview &amp;
Strategic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A33D"/>
                </a:solidFill>
                <a:latin typeface="Lato"/>
              </a:rPr>
              <a:t>Setting the stage for Q3 performance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rone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3716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14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4F4A"/>
                </a:solidFill>
                <a:latin typeface="Poppins"/>
              </a:rPr>
              <a:t>Strategic Priorities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188720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Lato"/>
              </a:rPr>
              <a:t>Three pillars guiding Q4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7772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A1A1A"/>
                </a:solidFill>
                <a:latin typeface="Lato"/>
              </a:rPr>
              <a:t>•  Accelerate mid-market expansion through partner-led channel programs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A1A1A"/>
                </a:solidFill>
                <a:latin typeface="Lato"/>
              </a:rPr>
              <a:t>•  Modernize core platform architecture for multi-region resilience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A1A1A"/>
                </a:solidFill>
                <a:latin typeface="Lato"/>
              </a:rPr>
              <a:t>•  Deepen customer success engagement to lift net retention above 95%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A1A1A"/>
                </a:solidFill>
                <a:latin typeface="Lato"/>
              </a:rPr>
              <a:t>•  Launch AI-assisted onboarding to reduce time-to-value by 30%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37760"/>
            <a:ext cx="10698480" cy="777240"/>
          </a:xfrm>
          <a:prstGeom prst="round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5102352"/>
            <a:ext cx="864108" cy="292608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093208"/>
            <a:ext cx="8641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B4F4A"/>
                </a:solidFill>
                <a:latin typeface="Lato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32180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Lato"/>
              </a:rPr>
              <a:t>Net retention improved 2.7pts QoQ — the strongest quarterly gain since FY22.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rone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3716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14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4F4A"/>
                </a:solidFill>
                <a:latin typeface="Poppins"/>
              </a:rPr>
              <a:t>Build vs. Partner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188720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Lato"/>
              </a:rPr>
              <a:t>Evaluating platform investment options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3035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73152" cy="38404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93392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4F4A"/>
                </a:solidFill>
                <a:latin typeface="Poppins"/>
              </a:rPr>
              <a:t>Build In-House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50592"/>
            <a:ext cx="493775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Lato"/>
              </a:rPr>
              <a:t>Full control over roadmap and integration depth.
Requires 8-10 engineers and ~9 months to reach production parity with current vendor capabilities. Higher long-term ownership cost but no licensing dependency.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53035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828800"/>
            <a:ext cx="73152" cy="38404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993392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4F4A"/>
                </a:solidFill>
                <a:latin typeface="Poppins"/>
              </a:rPr>
              <a:t>Partner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450592"/>
            <a:ext cx="493775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Lato"/>
              </a:rPr>
              <a:t>Faster time-to-market (6-8 weeks) leveraging an established vendor ecosystem.
Lower upfront engineering cost; introduces recurring licensing fees and dependency on partner roadmap alignment.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rone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3716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14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4F4A"/>
                </a:solidFill>
                <a:latin typeface="Poppins"/>
              </a:rPr>
              <a:t>Q3 Performance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188720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Lato"/>
              </a:rPr>
              <a:t>Headline metrics across the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474720" cy="2926080"/>
          </a:xfrm>
          <a:prstGeom prst="roundRect">
            <a:avLst/>
          </a:prstGeom>
          <a:solidFill>
            <a:srgbClr val="D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B4F4A"/>
                </a:solidFill>
                <a:latin typeface="Poppins"/>
              </a:rPr>
              <a:t>+18%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88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Lato"/>
              </a:rPr>
              <a:t>Revenue Growth (YoY)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00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33D"/>
                </a:solidFill>
                <a:latin typeface="Lato"/>
              </a:rPr>
              <a:t>▲ 4pts vs Q2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474720" cy="2926080"/>
          </a:xfrm>
          <a:prstGeom prst="roundRect">
            <a:avLst/>
          </a:prstGeom>
          <a:solidFill>
            <a:srgbClr val="D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011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B4F4A"/>
                </a:solidFill>
                <a:latin typeface="Poppins"/>
              </a:rPr>
              <a:t>94.2%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788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Lato"/>
              </a:rPr>
              <a:t>Customer Retention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200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33D"/>
                </a:solidFill>
                <a:latin typeface="Lato"/>
              </a:rPr>
              <a:t>▲ 2.7pts vs Q2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383280" cy="2926080"/>
          </a:xfrm>
          <a:prstGeom prst="roundRect">
            <a:avLst/>
          </a:prstGeom>
          <a:solidFill>
            <a:srgbClr val="D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0116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B4F4A"/>
                </a:solidFill>
                <a:latin typeface="Poppins"/>
              </a:rPr>
              <a:t>127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788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Lato"/>
              </a:rPr>
              <a:t>Net New Logos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33D"/>
                </a:solidFill>
                <a:latin typeface="Lato"/>
              </a:rPr>
              <a:t>▲ 12% vs Q2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rone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3716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14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4F4A"/>
                </a:solidFill>
                <a:latin typeface="Poppins"/>
              </a:rPr>
              <a:t>Operating Model Pillars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188720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Lato"/>
              </a:rPr>
              <a:t>Four functions powering delivery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103120"/>
            <a:ext cx="1280160" cy="1280160"/>
          </a:xfrm>
          <a:prstGeom prst="ellipse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8A33D"/>
                </a:solidFill>
                <a:latin typeface="Poppins"/>
              </a:rPr>
              <a:t>PR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99" y="34564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4F4A"/>
                </a:solidFill>
                <a:latin typeface="Poppins"/>
              </a:rPr>
              <a:t>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399" y="3794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Lato"/>
              </a:rPr>
              <a:t>Roadmap &amp; discovery</a:t>
            </a:r>
          </a:p>
        </p:txBody>
      </p:sp>
      <p:sp>
        <p:nvSpPr>
          <p:cNvPr id="11" name="Oval 10"/>
          <p:cNvSpPr/>
          <p:nvPr/>
        </p:nvSpPr>
        <p:spPr>
          <a:xfrm>
            <a:off x="3566159" y="2103120"/>
            <a:ext cx="1280160" cy="1280160"/>
          </a:xfrm>
          <a:prstGeom prst="ellipse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59" y="2514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8A33D"/>
                </a:solidFill>
                <a:latin typeface="Poppins"/>
              </a:rPr>
              <a:t>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79" y="34564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4F4A"/>
                </a:solidFill>
                <a:latin typeface="Poppins"/>
              </a:rPr>
              <a:t>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79" y="3794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Lato"/>
              </a:rPr>
              <a:t>Platform &amp; delivery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0" y="2103120"/>
            <a:ext cx="1280160" cy="1280160"/>
          </a:xfrm>
          <a:prstGeom prst="ellipse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2514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8A33D"/>
                </a:solidFill>
                <a:latin typeface="Poppins"/>
              </a:rPr>
              <a:t>GT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59" y="34564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4F4A"/>
                </a:solidFill>
                <a:latin typeface="Poppins"/>
              </a:rPr>
              <a:t>GTM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59" y="3794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Lato"/>
              </a:rPr>
              <a:t>Sales &amp; marketing</a:t>
            </a:r>
          </a:p>
        </p:txBody>
      </p:sp>
      <p:sp>
        <p:nvSpPr>
          <p:cNvPr id="19" name="Oval 18"/>
          <p:cNvSpPr/>
          <p:nvPr/>
        </p:nvSpPr>
        <p:spPr>
          <a:xfrm>
            <a:off x="8503920" y="2103120"/>
            <a:ext cx="1280160" cy="1280160"/>
          </a:xfrm>
          <a:prstGeom prst="ellipse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2514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8A33D"/>
                </a:solidFill>
                <a:latin typeface="Poppins"/>
              </a:rPr>
              <a:t>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4564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4F4A"/>
                </a:solidFill>
                <a:latin typeface="Poppins"/>
              </a:rPr>
              <a:t>Operations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794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Lato"/>
              </a:rPr>
              <a:t>Support &amp; success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34439" y="4754880"/>
            <a:ext cx="864108" cy="292608"/>
          </a:xfrm>
          <a:prstGeom prst="roundRect">
            <a:avLst/>
          </a:prstGeom>
          <a:solidFill>
            <a:srgbClr val="FBE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39" y="4745736"/>
            <a:ext cx="8641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B4F4A"/>
                </a:solidFill>
                <a:latin typeface="Lato"/>
              </a:rPr>
              <a:t>OWNER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4754880"/>
            <a:ext cx="864108" cy="292608"/>
          </a:xfrm>
          <a:prstGeom prst="roundRect">
            <a:avLst/>
          </a:prstGeom>
          <a:solidFill>
            <a:srgbClr val="FBE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03320" y="4745736"/>
            <a:ext cx="8641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B4F4A"/>
                </a:solidFill>
                <a:latin typeface="Lato"/>
              </a:rPr>
              <a:t>OWNER 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754880"/>
            <a:ext cx="864108" cy="292608"/>
          </a:xfrm>
          <a:prstGeom prst="roundRect">
            <a:avLst/>
          </a:prstGeom>
          <a:solidFill>
            <a:srgbClr val="FBE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4745736"/>
            <a:ext cx="8641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B4F4A"/>
                </a:solidFill>
                <a:latin typeface="Lato"/>
              </a:rPr>
              <a:t>OWNER 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41080" y="4754880"/>
            <a:ext cx="864108" cy="292608"/>
          </a:xfrm>
          <a:prstGeom prst="roundRect">
            <a:avLst/>
          </a:prstGeom>
          <a:solidFill>
            <a:srgbClr val="FBE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4745736"/>
            <a:ext cx="8641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B4F4A"/>
                </a:solidFill>
                <a:latin typeface="Lato"/>
              </a:rPr>
              <a:t>OWNER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rone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3716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oppins"/>
              </a:rPr>
              <a:t>Platform Modernization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E8A33D"/>
                </a:solidFill>
                <a:latin typeface="Poppins"/>
              </a:rPr>
              <a:t>73%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AF7F0"/>
                </a:solidFill>
                <a:latin typeface="Lato"/>
              </a:rPr>
              <a:t>of core services migrated to the new
event-driven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916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Lato"/>
              </a:rPr>
              <a:t>API Gateway Migration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011680"/>
            <a:ext cx="4389120" cy="201168"/>
          </a:xfrm>
          <a:prstGeom prst="roundRect">
            <a:avLst/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0" y="2011680"/>
            <a:ext cx="4037990" cy="201168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0" y="1965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Lato"/>
              </a:rPr>
              <a:t>92%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060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Lato"/>
              </a:rPr>
              <a:t>Data Layer Migration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926080"/>
            <a:ext cx="4389120" cy="201168"/>
          </a:xfrm>
          <a:prstGeom prst="roundRect">
            <a:avLst/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0" y="2926080"/>
            <a:ext cx="2984601" cy="201168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0" y="2880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Lato"/>
              </a:rPr>
              <a:t>68%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5204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Lato"/>
              </a:rPr>
              <a:t>Legacy Decommission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840480"/>
            <a:ext cx="4389120" cy="201168"/>
          </a:xfrm>
          <a:prstGeom prst="roundRect">
            <a:avLst/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0" y="3840480"/>
            <a:ext cx="1975104" cy="201168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64240" y="37947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Lato"/>
              </a:rPr>
              <a:t>45%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4348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Lato"/>
              </a:rPr>
              <a:t>Observability Rollout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4754880"/>
            <a:ext cx="4389120" cy="201168"/>
          </a:xfrm>
          <a:prstGeom prst="roundRect">
            <a:avLst/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0" y="4754880"/>
            <a:ext cx="3555187" cy="201168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64240" y="4709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Lato"/>
              </a:rPr>
              <a:t>81%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rone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3716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14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4F4A"/>
                </a:solidFill>
                <a:latin typeface="Poppins"/>
              </a:rPr>
              <a:t>Regional Performance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188720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Lato"/>
              </a:rPr>
              <a:t>Revenue and retention by region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828800"/>
          <a:ext cx="75895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Poppins"/>
                        </a:rPr>
                        <a:t>Region</a:t>
                      </a:r>
                    </a:p>
                  </a:txBody>
                  <a:tcPr>
                    <a:solidFill>
                      <a:srgbClr val="0B4F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Poppins"/>
                        </a:rPr>
                        <a:t>Revenue ($M)</a:t>
                      </a:r>
                    </a:p>
                  </a:txBody>
                  <a:tcPr>
                    <a:solidFill>
                      <a:srgbClr val="0B4F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Poppins"/>
                        </a:rPr>
                        <a:t>YoY Growth</a:t>
                      </a:r>
                    </a:p>
                  </a:txBody>
                  <a:tcPr>
                    <a:solidFill>
                      <a:srgbClr val="0B4F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Poppins"/>
                        </a:rPr>
                        <a:t>Retention</a:t>
                      </a:r>
                    </a:p>
                  </a:txBody>
                  <a:tcPr>
                    <a:solidFill>
                      <a:srgbClr val="0B4F4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Lato"/>
                        </a:rPr>
                        <a:t>North America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Lato"/>
                        </a:rPr>
                        <a:t>42.1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Lato"/>
                        </a:rPr>
                        <a:t>+15%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Lato"/>
                        </a:rPr>
                        <a:t>95.1%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Lato"/>
                        </a:rPr>
                        <a:t>EMEA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Lato"/>
                        </a:rPr>
                        <a:t>28.7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Lato"/>
                        </a:rPr>
                        <a:t>+22%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Lato"/>
                        </a:rPr>
                        <a:t>93.4%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Lato"/>
                        </a:rPr>
                        <a:t>APAC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Lato"/>
                        </a:rPr>
                        <a:t>16.3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Lato"/>
                        </a:rPr>
                        <a:t>+31%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Lato"/>
                        </a:rPr>
                        <a:t>91.8%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Lato"/>
                        </a:rPr>
                        <a:t>LatAm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Lato"/>
                        </a:rPr>
                        <a:t>9.4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Lato"/>
                        </a:rPr>
                        <a:t>+12%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Lato"/>
                        </a:rPr>
                        <a:t>92.7%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595360" y="1828800"/>
            <a:ext cx="29260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95360" y="1828800"/>
            <a:ext cx="73152" cy="38404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3960" y="19933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4F4A"/>
                </a:solidFill>
                <a:latin typeface="Poppins"/>
              </a:rPr>
              <a:t>Sidebar Note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2450592"/>
            <a:ext cx="2560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Lato"/>
              </a:rPr>
              <a:t>APAC continues to outpace other regions in growth rate, driven by new partner channel launches in Q2. Recommend incremental headcount investment in regional customer success.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rone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3716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14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4F4A"/>
                </a:solidFill>
                <a:latin typeface="Poppins"/>
              </a:rPr>
              <a:t>Roadmap &amp; Key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188720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Lato"/>
              </a:rPr>
              <a:t>Milestones and decisions needed this quarter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4F4A"/>
                </a:solidFill>
                <a:latin typeface="Poppins"/>
              </a:rPr>
              <a:t>Upcoming Milestones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377440"/>
            <a:ext cx="228600" cy="2286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3544" y="2606040"/>
            <a:ext cx="18288" cy="868680"/>
          </a:xfrm>
          <a:prstGeom prst="rect">
            <a:avLst/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3042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33D"/>
                </a:solidFill>
                <a:latin typeface="Lato"/>
              </a:rPr>
              <a:t>Jul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786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4F4A"/>
                </a:solidFill>
                <a:latin typeface="Poppins"/>
              </a:rPr>
              <a:t>Beta Launch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880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Lato"/>
              </a:rPr>
              <a:t>Limited release to design partners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383280"/>
            <a:ext cx="228600" cy="2286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3544" y="3611880"/>
            <a:ext cx="18288" cy="868680"/>
          </a:xfrm>
          <a:prstGeom prst="rect">
            <a:avLst/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3101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33D"/>
                </a:solidFill>
                <a:latin typeface="Lato"/>
              </a:rPr>
              <a:t>Sep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584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4F4A"/>
                </a:solidFill>
                <a:latin typeface="Poppins"/>
              </a:rPr>
              <a:t>GA Release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886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Lato"/>
              </a:rPr>
              <a:t>Full rollout across all regions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389120"/>
            <a:ext cx="228600" cy="2286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3159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33D"/>
                </a:solidFill>
                <a:latin typeface="Lato"/>
              </a:rPr>
              <a:t>Nov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5902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4F4A"/>
                </a:solidFill>
                <a:latin typeface="Poppins"/>
              </a:rPr>
              <a:t>V2 Planning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892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Lato"/>
              </a:rPr>
              <a:t>Scope definition for next major version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4F4A"/>
                </a:solidFill>
                <a:latin typeface="Poppins"/>
              </a:rPr>
              <a:t>Decisions Needed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286000"/>
            <a:ext cx="50292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2286000"/>
            <a:ext cx="73152" cy="13716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245059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4F4A"/>
                </a:solidFill>
                <a:latin typeface="Poppins"/>
              </a:rPr>
              <a:t>Vendor Selection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907792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Lato"/>
              </a:rPr>
              <a:t>Finalize integration partner by end of month to hold GA timeline.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840480"/>
            <a:ext cx="50292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3840480"/>
            <a:ext cx="73152" cy="13716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400507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4F4A"/>
                </a:solidFill>
                <a:latin typeface="Poppins"/>
              </a:rPr>
              <a:t>Budget Approval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462272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Lato"/>
              </a:rPr>
              <a:t>Approve incremental headcount for APAC customer success team.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rone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3716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14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4F4A"/>
                </a:solidFill>
                <a:latin typeface="Poppins"/>
              </a:rPr>
              <a:t>Component Gallery — Badges &amp; Dividers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188720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Lato"/>
              </a:rPr>
              <a:t>Status indicators and section separators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941832" cy="292608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19656"/>
            <a:ext cx="941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B4F4A"/>
                </a:solidFill>
                <a:latin typeface="Lato"/>
              </a:rPr>
              <a:t>ON TRACK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1828800"/>
            <a:ext cx="864108" cy="292608"/>
          </a:xfrm>
          <a:prstGeom prst="round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1819656"/>
            <a:ext cx="8641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ato"/>
              </a:rPr>
              <a:t>AT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828800"/>
            <a:ext cx="941832" cy="292608"/>
          </a:xfrm>
          <a:prstGeom prst="roundRect">
            <a:avLst/>
          </a:prstGeom>
          <a:solidFill>
            <a:srgbClr val="D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1819656"/>
            <a:ext cx="941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B4F4A"/>
                </a:solidFill>
                <a:latin typeface="Lato"/>
              </a:rPr>
              <a:t>COMPLETE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828800"/>
            <a:ext cx="864108" cy="292608"/>
          </a:xfrm>
          <a:prstGeom prst="roundRect">
            <a:avLst/>
          </a:prstGeom>
          <a:solidFill>
            <a:srgbClr val="FBE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819656"/>
            <a:ext cx="8641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B4F4A"/>
                </a:solidFill>
                <a:latin typeface="Lato"/>
              </a:rPr>
              <a:t>BLOCKED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651760"/>
            <a:ext cx="10698480" cy="18288"/>
          </a:xfrm>
          <a:prstGeom prst="rect">
            <a:avLst/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Lato"/>
              </a:rPr>
              <a:t>Dividers separate thematic sections within a slide body, using a 2px hairline in the muted border tone.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566160"/>
            <a:ext cx="5029200" cy="18288"/>
          </a:xfrm>
          <a:prstGeom prst="rect">
            <a:avLst/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566160"/>
            <a:ext cx="5303520" cy="18288"/>
          </a:xfrm>
          <a:prstGeom prst="rect">
            <a:avLst/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206240"/>
            <a:ext cx="10698480" cy="777240"/>
          </a:xfrm>
          <a:prstGeom prst="round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" y="4370831"/>
            <a:ext cx="864108" cy="292608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361688"/>
            <a:ext cx="8641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B4F4A"/>
                </a:solidFill>
                <a:latin typeface="Lato"/>
              </a:rPr>
              <a:t>INSIGHT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59028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Lato"/>
              </a:rPr>
              <a:t>Callout bars highlight a single key takeaway with an accent label chip.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rone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37160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14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4F4A"/>
                </a:solidFill>
                <a:latin typeface="Poppins"/>
              </a:rPr>
              <a:t>Component Gallery — Cards &amp; Progress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188720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Lato"/>
              </a:rPr>
              <a:t>Card variants and progress indicators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73152" cy="21945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9339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4F4A"/>
                </a:solidFill>
                <a:latin typeface="Poppins"/>
              </a:rPr>
              <a:t>Standard 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50592"/>
            <a:ext cx="310896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Lato"/>
              </a:rPr>
              <a:t>Used for narrative content blocks with an accent rail on the left edge.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474720" cy="2194560"/>
          </a:xfrm>
          <a:prstGeom prst="roundRect">
            <a:avLst/>
          </a:prstGeom>
          <a:solidFill>
            <a:srgbClr val="D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011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B4F4A"/>
                </a:solidFill>
                <a:latin typeface="Poppins"/>
              </a:rPr>
              <a:t>$4.2M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788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Lato"/>
              </a:rPr>
              <a:t>ARR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200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33D"/>
                </a:solidFill>
                <a:latin typeface="Lato"/>
              </a:rPr>
              <a:t>▲ 9% MoM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73152" cy="21945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99339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4F4A"/>
                </a:solidFill>
                <a:latin typeface="Poppins"/>
              </a:rPr>
              <a:t>Risk Card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450592"/>
            <a:ext cx="301752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Lato"/>
              </a:rPr>
              <a:t>Flag mitigations and owners for in-flight initiatives.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26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Lato"/>
              </a:rPr>
              <a:t>Hiring Plan Completion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846320"/>
            <a:ext cx="4572000" cy="201168"/>
          </a:xfrm>
          <a:prstGeom prst="roundRect">
            <a:avLst/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4846320"/>
            <a:ext cx="2743200" cy="201168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Lato"/>
              </a:rPr>
              <a:t>60%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526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Lato"/>
              </a:rPr>
              <a:t>Documentation Coverage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846320"/>
            <a:ext cx="4572000" cy="201168"/>
          </a:xfrm>
          <a:prstGeom prst="roundRect">
            <a:avLst/>
          </a:prstGeom>
          <a:solidFill>
            <a:srgbClr val="D8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09360" y="4846320"/>
            <a:ext cx="1600200" cy="201168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Lato"/>
              </a:rPr>
              <a:t>35%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Poppin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A33D"/>
                </a:solidFill>
                <a:latin typeface="Lato"/>
              </a:rPr>
              <a:t>Fronei  |  fronei.com  |  contact@fronei.com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