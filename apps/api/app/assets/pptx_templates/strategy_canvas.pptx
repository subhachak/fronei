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Fronei AI Operating Model — FY27 Steering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8A8F8C"/>
                </a:solidFill>
                <a:latin typeface="Calibri"/>
              </a:rPr>
              <a:t>For: Executive Steering Committee — Q3 Governance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Fronei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46120"/>
            <a:ext cx="1280160" cy="5486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01  Context &amp; Current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6576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Context &amp; current state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Options considered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Recommendation &amp; rationale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51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Risks &amp; mitigations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206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Roadmap &amp;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Pilot results justify scaling to three additional business units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383280" cy="73152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0F6F5C"/>
                </a:solidFill>
                <a:latin typeface="Calibri"/>
              </a:rPr>
              <a:t>34%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Cycle-time reduction</a:t>
            </a:r>
          </a:p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on document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645920"/>
            <a:ext cx="3383280" cy="73152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0F6F5C"/>
                </a:solidFill>
                <a:latin typeface="Calibri"/>
              </a:rPr>
              <a:t>$1.2M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Projected annual</a:t>
            </a:r>
          </a:p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cost avoidance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383280" cy="73152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0F6F5C"/>
                </a:solidFill>
                <a:latin typeface="Calibri"/>
              </a:rPr>
              <a:t>3 wks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Time-to-value per</a:t>
            </a:r>
          </a:p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business unit onboarded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8C"/>
                </a:solidFill>
                <a:latin typeface="Calibri"/>
              </a:rPr>
              <a:t>Speaker notes: Pilot ran across two business units over 9 weeks; figures are measured against the pre-pilot baseline documented in Appendix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Strangler-fig migration replaces Hybris modules incrementally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852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39496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8A8F8C"/>
                </a:solidFill>
                <a:latin typeface="Calibri"/>
              </a:rPr>
              <a:t>Architecture diagram /</a:t>
            </a:r>
          </a:p>
          <a:p>
            <a:pPr algn="ctr"/>
            <a:r>
              <a:rPr sz="1600" b="0" i="0">
                <a:solidFill>
                  <a:srgbClr val="8A8F8C"/>
                </a:solidFill>
                <a:latin typeface="Calibri"/>
              </a:rPr>
              <a:t>data-flow visual</a:t>
            </a:r>
          </a:p>
          <a:p>
            <a:pPr algn="ctr"/>
            <a:r>
              <a:rPr sz="1600" b="0" i="0">
                <a:solidFill>
                  <a:srgbClr val="8A8F8C"/>
                </a:solidFill>
                <a:latin typeface="Calibri"/>
              </a:rPr>
              <a:t/>
            </a:r>
          </a:p>
          <a:p>
            <a:pPr algn="ctr"/>
            <a:r>
              <a:rPr sz="1600" b="0" i="0">
                <a:solidFill>
                  <a:srgbClr val="8A8F8C"/>
                </a:solidFill>
                <a:latin typeface="Calibri"/>
              </a:rPr>
              <a:t>(placeholder region for image</a:t>
            </a:r>
          </a:p>
          <a:p>
            <a:pPr algn="ctr"/>
            <a:r>
              <a:rPr sz="1600" b="0" i="0">
                <a:solidFill>
                  <a:srgbClr val="8A8F8C"/>
                </a:solidFill>
                <a:latin typeface="Calibri"/>
              </a:rPr>
              <a:t>or Mermaid export)</a:t>
            </a:r>
          </a:p>
        </p:txBody>
      </p:sp>
      <p:sp>
        <p:nvSpPr>
          <p:cNvPr id="5" name="Oval 4"/>
          <p:cNvSpPr/>
          <p:nvPr/>
        </p:nvSpPr>
        <p:spPr>
          <a:xfrm>
            <a:off x="6766560" y="1691640"/>
            <a:ext cx="109728" cy="109728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6002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Each module is replaced behind a stable API contract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2651760"/>
            <a:ext cx="109728" cy="109728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5603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Traffic is shifted module-by-module via the routing layer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3611879"/>
            <a:ext cx="109728" cy="109728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520439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Legacy Hybris remains the system of record until cutover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4571999"/>
            <a:ext cx="109728" cy="109728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480559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Rollback is scoped to a single module, not the whole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Option B balances delivery risk against time-to-value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33333"/>
                </a:solidFill>
                <a:latin typeface="Calibri"/>
              </a:rPr>
              <a:t>Option A — Big-bang rewrite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2491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18-24 month timeline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Highest delivery risk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27939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Clean architecture end-state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520440" cy="4480560"/>
          </a:xfrm>
          <a:prstGeom prst="rect">
            <a:avLst/>
          </a:prstGeom>
          <a:solidFill>
            <a:srgbClr val="0F6F5C"/>
          </a:solidFill>
          <a:ln w="12700">
            <a:solidFill>
              <a:srgbClr val="8A8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Option B — Strangler-fig (recommended)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724912"/>
            <a:ext cx="109728" cy="109728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6-9 months to first value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3502152"/>
            <a:ext cx="109728" cy="109728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Risk isolated per module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4279392"/>
            <a:ext cx="109728" cy="109728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Incremental ROI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33333"/>
                </a:solidFill>
                <a:latin typeface="Calibri"/>
              </a:rPr>
              <a:t>Option C — Status quo + patches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0" y="272491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Lowest near-term cost</a:t>
            </a:r>
          </a:p>
        </p:txBody>
      </p:sp>
      <p:sp>
        <p:nvSpPr>
          <p:cNvPr id="23" name="Oval 22"/>
          <p:cNvSpPr/>
          <p:nvPr/>
        </p:nvSpPr>
        <p:spPr>
          <a:xfrm>
            <a:off x="8549640" y="350215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Technical debt compounds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427939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No platform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Four-phase rollout sequences value delivery over 12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10515600" cy="54864"/>
          </a:xfrm>
          <a:prstGeom prst="rect">
            <a:avLst/>
          </a:prstGeom>
          <a:solidFill>
            <a:srgbClr val="8A8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1640" y="3154680"/>
            <a:ext cx="502920" cy="50292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Phase 1</a:t>
            </a:r>
          </a:p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Months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333333"/>
                </a:solidFill>
                <a:latin typeface="Calibri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Plan gate + governance framework live</a:t>
            </a:r>
          </a:p>
        </p:txBody>
      </p:sp>
      <p:sp>
        <p:nvSpPr>
          <p:cNvPr id="8" name="Oval 7"/>
          <p:cNvSpPr/>
          <p:nvPr/>
        </p:nvSpPr>
        <p:spPr>
          <a:xfrm>
            <a:off x="4553712" y="3154680"/>
            <a:ext cx="502920" cy="50292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Phase 2</a:t>
            </a:r>
          </a:p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Months 3-5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333333"/>
                </a:solidFill>
                <a:latin typeface="Calibri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Two business units onboarded</a:t>
            </a:r>
          </a:p>
        </p:txBody>
      </p:sp>
      <p:sp>
        <p:nvSpPr>
          <p:cNvPr id="12" name="Oval 11"/>
          <p:cNvSpPr/>
          <p:nvPr/>
        </p:nvSpPr>
        <p:spPr>
          <a:xfrm>
            <a:off x="7415784" y="3154680"/>
            <a:ext cx="502920" cy="50292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Phase 3</a:t>
            </a:r>
          </a:p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Months 6-9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333333"/>
                </a:solidFill>
                <a:latin typeface="Calibri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Five additional units; PPTX/XLSX outputs</a:t>
            </a:r>
          </a:p>
        </p:txBody>
      </p:sp>
      <p:sp>
        <p:nvSpPr>
          <p:cNvPr id="16" name="Oval 15"/>
          <p:cNvSpPr/>
          <p:nvPr/>
        </p:nvSpPr>
        <p:spPr>
          <a:xfrm>
            <a:off x="10277856" y="3154680"/>
            <a:ext cx="502920" cy="502920"/>
          </a:xfrm>
          <a:prstGeom prst="ellipse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Phase 4</a:t>
            </a:r>
          </a:p>
          <a:p>
            <a:pPr algn="ctr"/>
            <a:r>
              <a:rPr sz="1400" b="0" i="0">
                <a:solidFill>
                  <a:srgbClr val="8A8F8C"/>
                </a:solidFill>
                <a:latin typeface="Calibri"/>
              </a:rPr>
              <a:t>Months 10-12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333333"/>
                </a:solidFill>
                <a:latin typeface="Calibri"/>
              </a:rPr>
              <a:t>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Model routing tuned via eval harness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Risk register: three items require steering-committee sign-off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315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F6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>
                    <a:solidFill>
                      <a:srgbClr val="0F6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0F6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Mitigation owner</a:t>
                      </a:r>
                    </a:p>
                  </a:txBody>
                  <a:tcPr>
                    <a:solidFill>
                      <a:srgbClr val="0F6F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Model cost overrun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Platform eng (model routing)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Org change resistance in pilot BUs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TPM / change mgmt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Data residency for EU tenants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Security &amp;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46120"/>
            <a:ext cx="1280160" cy="5486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02  Recommendation &amp; 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4864" cy="9144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Approve Option B (strangler-fig)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06039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A8F8C"/>
                </a:solidFill>
                <a:latin typeface="Calibri"/>
              </a:rPr>
              <a:t>Steering committee — by Jul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29000"/>
            <a:ext cx="54864" cy="9144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Stand up plan-gate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31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A8F8C"/>
                </a:solidFill>
                <a:latin typeface="Calibri"/>
              </a:rPr>
              <a:t>Platform eng — by Jul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54864" cy="9144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Onboard pilot business units 3 &amp;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A8F8C"/>
                </a:solidFill>
                <a:latin typeface="Calibri"/>
              </a:rPr>
              <a:t>TPM — by Aug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8C"/>
                </a:solidFill>
                <a:latin typeface="Calibri"/>
              </a:rPr>
              <a:t>Fronei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