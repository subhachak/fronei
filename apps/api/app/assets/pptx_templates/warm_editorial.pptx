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B45309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Fit</c:v>
                </c:pt>
                <c:pt idx="1">
                  <c:v>Control</c:v>
                </c:pt>
                <c:pt idx="2">
                  <c:v>Scale</c:v>
                </c:pt>
                <c:pt idx="3">
                  <c:v>Risk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88</c:v>
                </c:pt>
                <c:pt idx="1">
                  <c:v>72</c:v>
                </c:pt>
                <c:pt idx="2">
                  <c:v>91</c:v>
                </c:pt>
                <c:pt idx="3">
                  <c:v>61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8C4-B743-A071-0BF6EF829E6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5E52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B5E52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4713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691640"/>
            <a:ext cx="6126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5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Warm Editorial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658368" y="237744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4530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PowerPoint Template System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58368" y="2798064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5E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Thought leadership, executive narratives, POV decks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8275320" y="1325880"/>
            <a:ext cx="2011680" cy="1143000"/>
          </a:xfrm>
          <a:prstGeom prst="roundRect">
            <a:avLst>
              <a:gd name="adj" fmla="val 9600"/>
            </a:avLst>
          </a:prstGeom>
          <a:solidFill>
            <a:srgbClr val="FFFDF8"/>
          </a:solidFill>
          <a:ln w="12700">
            <a:solidFill>
              <a:srgbClr val="E2D4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555480" y="2633472"/>
            <a:ext cx="1554480" cy="868680"/>
          </a:xfrm>
          <a:prstGeom prst="roundRect">
            <a:avLst>
              <a:gd name="adj" fmla="val 12632"/>
            </a:avLst>
          </a:prstGeom>
          <a:solidFill>
            <a:srgbClr val="B45309">
              <a:alpha val="95000"/>
            </a:srgbClr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635240" y="3730752"/>
            <a:ext cx="2423160" cy="1143000"/>
          </a:xfrm>
          <a:prstGeom prst="roundRect">
            <a:avLst>
              <a:gd name="adj" fmla="val 9600"/>
            </a:avLst>
          </a:prstGeom>
          <a:solidFill>
            <a:srgbClr val="FFFDF8"/>
          </a:solidFill>
          <a:ln w="12700">
            <a:solidFill>
              <a:srgbClr val="E2D4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644652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5E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Warm Editorial Template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11384280" y="6327648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 system snapshot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12648" y="914400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5E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this page as the source of truth for new slides.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94360" y="1216152"/>
            <a:ext cx="1920240" cy="0"/>
          </a:xfrm>
          <a:prstGeom prst="line">
            <a:avLst/>
          </a:prstGeom>
          <a:noFill/>
          <a:ln w="254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85800" y="1554480"/>
            <a:ext cx="1188720" cy="256032"/>
          </a:xfrm>
          <a:prstGeom prst="roundRect">
            <a:avLst>
              <a:gd name="adj" fmla="val 14286"/>
            </a:avLst>
          </a:prstGeom>
          <a:solidFill>
            <a:srgbClr val="B45309">
              <a:alpha val="95000"/>
            </a:srgbClr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1613916"/>
            <a:ext cx="10058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6F0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TYPOGRAPHY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4251960" y="1554480"/>
            <a:ext cx="822960" cy="256032"/>
          </a:xfrm>
          <a:prstGeom prst="roundRect">
            <a:avLst>
              <a:gd name="adj" fmla="val 14286"/>
            </a:avLst>
          </a:prstGeom>
          <a:solidFill>
            <a:srgbClr val="B45309">
              <a:alpha val="95000"/>
            </a:srgbClr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343400" y="1613916"/>
            <a:ext cx="6400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6F0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COLOR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7955280" y="1554480"/>
            <a:ext cx="1005840" cy="256032"/>
          </a:xfrm>
          <a:prstGeom prst="roundRect">
            <a:avLst>
              <a:gd name="adj" fmla="val 14286"/>
            </a:avLst>
          </a:prstGeom>
          <a:solidFill>
            <a:srgbClr val="B45309">
              <a:alpha val="95000"/>
            </a:srgbClr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046720" y="1613916"/>
            <a:ext cx="8229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6F0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SPACING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685800" y="20574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Headlines: Georgia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85800" y="2496312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5E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Body: Aptos · 9–15 pt · short lines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251960" y="2011680"/>
            <a:ext cx="384048" cy="384048"/>
          </a:xfrm>
          <a:prstGeom prst="rect">
            <a:avLst/>
          </a:prstGeom>
          <a:solidFill>
            <a:srgbClr val="F6F0E6"/>
          </a:solidFill>
          <a:ln w="6350">
            <a:solidFill>
              <a:srgbClr val="E2D4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187952" y="2487168"/>
            <a:ext cx="502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6B5E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bg</a:t>
            </a:r>
            <a:endParaRPr lang="en-US" sz="550" dirty="0"/>
          </a:p>
        </p:txBody>
      </p:sp>
      <p:sp>
        <p:nvSpPr>
          <p:cNvPr id="15" name="Shape 13"/>
          <p:cNvSpPr/>
          <p:nvPr/>
        </p:nvSpPr>
        <p:spPr>
          <a:xfrm>
            <a:off x="4754880" y="2011680"/>
            <a:ext cx="384048" cy="384048"/>
          </a:xfrm>
          <a:prstGeom prst="rect">
            <a:avLst/>
          </a:prstGeom>
          <a:solidFill>
            <a:srgbClr val="FFFDF8"/>
          </a:solidFill>
          <a:ln w="6350">
            <a:solidFill>
              <a:srgbClr val="E2D4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690872" y="2487168"/>
            <a:ext cx="502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6B5E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card</a:t>
            </a:r>
            <a:endParaRPr lang="en-US" sz="550" dirty="0"/>
          </a:p>
        </p:txBody>
      </p:sp>
      <p:sp>
        <p:nvSpPr>
          <p:cNvPr id="17" name="Shape 15"/>
          <p:cNvSpPr/>
          <p:nvPr/>
        </p:nvSpPr>
        <p:spPr>
          <a:xfrm>
            <a:off x="5257800" y="2011680"/>
            <a:ext cx="384048" cy="384048"/>
          </a:xfrm>
          <a:prstGeom prst="rect">
            <a:avLst/>
          </a:prstGeom>
          <a:solidFill>
            <a:srgbClr val="1F2937"/>
          </a:solidFill>
          <a:ln w="6350">
            <a:solidFill>
              <a:srgbClr val="E2D4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193792" y="2487168"/>
            <a:ext cx="502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6B5E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fg</a:t>
            </a:r>
            <a:endParaRPr lang="en-US" sz="550" dirty="0"/>
          </a:p>
        </p:txBody>
      </p:sp>
      <p:sp>
        <p:nvSpPr>
          <p:cNvPr id="19" name="Shape 17"/>
          <p:cNvSpPr/>
          <p:nvPr/>
        </p:nvSpPr>
        <p:spPr>
          <a:xfrm>
            <a:off x="5760720" y="2011680"/>
            <a:ext cx="384048" cy="384048"/>
          </a:xfrm>
          <a:prstGeom prst="rect">
            <a:avLst/>
          </a:prstGeom>
          <a:solidFill>
            <a:srgbClr val="6B5E52"/>
          </a:solidFill>
          <a:ln w="6350">
            <a:solidFill>
              <a:srgbClr val="E2D4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696712" y="2487168"/>
            <a:ext cx="502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6B5E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muted</a:t>
            </a:r>
            <a:endParaRPr lang="en-US" sz="550" dirty="0"/>
          </a:p>
        </p:txBody>
      </p:sp>
      <p:sp>
        <p:nvSpPr>
          <p:cNvPr id="21" name="Shape 19"/>
          <p:cNvSpPr/>
          <p:nvPr/>
        </p:nvSpPr>
        <p:spPr>
          <a:xfrm>
            <a:off x="6263640" y="2011680"/>
            <a:ext cx="384048" cy="384048"/>
          </a:xfrm>
          <a:prstGeom prst="rect">
            <a:avLst/>
          </a:prstGeom>
          <a:solidFill>
            <a:srgbClr val="B45309"/>
          </a:solidFill>
          <a:ln w="6350">
            <a:solidFill>
              <a:srgbClr val="E2D4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199632" y="2487168"/>
            <a:ext cx="502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6B5E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accent</a:t>
            </a:r>
            <a:endParaRPr lang="en-US" sz="550" dirty="0"/>
          </a:p>
        </p:txBody>
      </p:sp>
      <p:sp>
        <p:nvSpPr>
          <p:cNvPr id="23" name="Shape 21"/>
          <p:cNvSpPr/>
          <p:nvPr/>
        </p:nvSpPr>
        <p:spPr>
          <a:xfrm>
            <a:off x="6766560" y="2011680"/>
            <a:ext cx="384048" cy="384048"/>
          </a:xfrm>
          <a:prstGeom prst="rect">
            <a:avLst/>
          </a:prstGeom>
          <a:solidFill>
            <a:srgbClr val="0F766E"/>
          </a:solidFill>
          <a:ln w="6350">
            <a:solidFill>
              <a:srgbClr val="E2D4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702552" y="2487168"/>
            <a:ext cx="502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6B5E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accent2</a:t>
            </a:r>
            <a:endParaRPr lang="en-US" sz="550" dirty="0"/>
          </a:p>
        </p:txBody>
      </p:sp>
      <p:sp>
        <p:nvSpPr>
          <p:cNvPr id="25" name="Text 23"/>
          <p:cNvSpPr/>
          <p:nvPr/>
        </p:nvSpPr>
        <p:spPr>
          <a:xfrm>
            <a:off x="7955280" y="20116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Grid: 12 columns · 0.65 in page margin · 0.2–0.3 in object gap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85800" y="3703320"/>
            <a:ext cx="2194560" cy="1280160"/>
          </a:xfrm>
          <a:prstGeom prst="roundRect">
            <a:avLst>
              <a:gd name="adj" fmla="val 5714"/>
            </a:avLst>
          </a:prstGeom>
          <a:solidFill>
            <a:srgbClr val="FFFDF8"/>
          </a:solidFill>
          <a:ln w="12700">
            <a:solidFill>
              <a:srgbClr val="E2D4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914400" y="3959352"/>
            <a:ext cx="658368" cy="0"/>
          </a:xfrm>
          <a:prstGeom prst="line">
            <a:avLst/>
          </a:prstGeom>
          <a:noFill/>
          <a:ln w="381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914400" y="414223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Title style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14400" y="45720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B5E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24–36 pt, assertive, one line when possible.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200400" y="3703320"/>
            <a:ext cx="2194560" cy="1280160"/>
          </a:xfrm>
          <a:prstGeom prst="roundRect">
            <a:avLst>
              <a:gd name="adj" fmla="val 5714"/>
            </a:avLst>
          </a:prstGeom>
          <a:solidFill>
            <a:srgbClr val="FFFDF8"/>
          </a:solidFill>
          <a:ln w="12700">
            <a:solidFill>
              <a:srgbClr val="E2D4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3429000" y="3959352"/>
            <a:ext cx="658368" cy="0"/>
          </a:xfrm>
          <a:prstGeom prst="line">
            <a:avLst/>
          </a:prstGeom>
          <a:noFill/>
          <a:ln w="381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429000" y="414223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Section style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429000" y="45720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B5E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Large statement + one orientation line.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5715000" y="3703320"/>
            <a:ext cx="2194560" cy="1280160"/>
          </a:xfrm>
          <a:prstGeom prst="roundRect">
            <a:avLst>
              <a:gd name="adj" fmla="val 5714"/>
            </a:avLst>
          </a:prstGeom>
          <a:solidFill>
            <a:srgbClr val="FFFDF8"/>
          </a:solidFill>
          <a:ln w="12700">
            <a:solidFill>
              <a:srgbClr val="E2D4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5943600" y="3959352"/>
            <a:ext cx="658368" cy="0"/>
          </a:xfrm>
          <a:prstGeom prst="line">
            <a:avLst/>
          </a:prstGeom>
          <a:noFill/>
          <a:ln w="381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943600" y="414223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Body style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943600" y="45720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B5E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Cards, diagrams, charts. No dense paragraphs.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8229600" y="3703320"/>
            <a:ext cx="2194560" cy="1280160"/>
          </a:xfrm>
          <a:prstGeom prst="roundRect">
            <a:avLst>
              <a:gd name="adj" fmla="val 5714"/>
            </a:avLst>
          </a:prstGeom>
          <a:solidFill>
            <a:srgbClr val="FFFDF8"/>
          </a:solidFill>
          <a:ln w="12700">
            <a:solidFill>
              <a:srgbClr val="E2D4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8458200" y="3959352"/>
            <a:ext cx="658368" cy="0"/>
          </a:xfrm>
          <a:prstGeom prst="line">
            <a:avLst/>
          </a:prstGeom>
          <a:noFill/>
          <a:ln w="381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8458200" y="414223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Image style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8458200" y="45720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B5E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Full-bleed crops, duotone masks, no clipart.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11480" y="644652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5E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Warm Editorial Template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11384280" y="6327648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 and takeaway layouts stay decision-focused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12648" y="914400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5E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sequence, ownership, and outcome language.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94360" y="1216152"/>
            <a:ext cx="1920240" cy="0"/>
          </a:xfrm>
          <a:prstGeom prst="line">
            <a:avLst/>
          </a:prstGeom>
          <a:noFill/>
          <a:ln w="254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22960" y="1737360"/>
            <a:ext cx="73152" cy="73152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05840" y="1737360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Context: what changed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822960" y="2176272"/>
            <a:ext cx="73152" cy="73152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05840" y="2130552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Decision: what must be chosen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822960" y="2615184"/>
            <a:ext cx="73152" cy="73152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05840" y="2523744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Evidence: why it matters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822960" y="3054096"/>
            <a:ext cx="73152" cy="73152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005840" y="2916936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move: what happens now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715000" y="1508760"/>
            <a:ext cx="0" cy="4389120"/>
          </a:xfrm>
          <a:prstGeom prst="line">
            <a:avLst/>
          </a:prstGeom>
          <a:noFill/>
          <a:ln w="12700">
            <a:solidFill>
              <a:srgbClr val="E2D4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0" y="16459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4530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040880" y="169164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Audience knows the path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040880" y="199339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5E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make the agenda a table of contents.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6400800" y="27889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4530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040880" y="283464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Decision is visible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040880" y="313639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5E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section should remove ambiguity.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400800" y="39319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4530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040880" y="397764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Follow-up is explicit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040880" y="427939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5E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 with owners, dates, and measurable outcomes.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11480" y="644652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5E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Warm Editorial Template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11384280" y="6327648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0E6"/>
          </a:solidFill>
          <a:ln w="12700">
            <a:solidFill>
              <a:srgbClr val="F6F0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58368" y="1417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B4530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01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58368" y="1847088"/>
            <a:ext cx="7680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core argument belongs here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85800" y="2761488"/>
            <a:ext cx="612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5E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short orientation sentence explains what the audience will learn next.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509760" y="1920240"/>
            <a:ext cx="1097280" cy="731520"/>
          </a:xfrm>
          <a:prstGeom prst="chevron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0835640" y="1920240"/>
            <a:ext cx="1097280" cy="731520"/>
          </a:xfrm>
          <a:prstGeom prst="chevron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11480" y="644652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5E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Warm Editorial Template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1384280" y="6327648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Card layouts organize options without turning into dashboards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12648" y="914400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5E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3-up for alternatives, 4-up for capabilities.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94360" y="1216152"/>
            <a:ext cx="1920240" cy="0"/>
          </a:xfrm>
          <a:prstGeom prst="line">
            <a:avLst/>
          </a:prstGeom>
          <a:noFill/>
          <a:ln w="254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85800" y="1600200"/>
            <a:ext cx="3291840" cy="1508760"/>
          </a:xfrm>
          <a:prstGeom prst="roundRect">
            <a:avLst>
              <a:gd name="adj" fmla="val 4848"/>
            </a:avLst>
          </a:prstGeom>
          <a:solidFill>
            <a:srgbClr val="FFFDF8"/>
          </a:solidFill>
          <a:ln w="12700">
            <a:solidFill>
              <a:srgbClr val="E2D4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14400" y="1856232"/>
            <a:ext cx="658368" cy="0"/>
          </a:xfrm>
          <a:prstGeom prst="line">
            <a:avLst/>
          </a:prstGeom>
          <a:noFill/>
          <a:ln w="381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203911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Option 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246888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B5E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when the audience must compare investment choices.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434840" y="1600200"/>
            <a:ext cx="3291840" cy="1508760"/>
          </a:xfrm>
          <a:prstGeom prst="roundRect">
            <a:avLst>
              <a:gd name="adj" fmla="val 4848"/>
            </a:avLst>
          </a:prstGeom>
          <a:solidFill>
            <a:srgbClr val="FFFDF8"/>
          </a:solidFill>
          <a:ln w="12700">
            <a:solidFill>
              <a:srgbClr val="E2D4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663440" y="1856232"/>
            <a:ext cx="658368" cy="0"/>
          </a:xfrm>
          <a:prstGeom prst="line">
            <a:avLst/>
          </a:prstGeom>
          <a:noFill/>
          <a:ln w="381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663440" y="203911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Option B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63440" y="246888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B5E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every card structurally parallel for fast scanning.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8183880" y="1600200"/>
            <a:ext cx="3291840" cy="1508760"/>
          </a:xfrm>
          <a:prstGeom prst="roundRect">
            <a:avLst>
              <a:gd name="adj" fmla="val 4848"/>
            </a:avLst>
          </a:prstGeom>
          <a:solidFill>
            <a:srgbClr val="FFFDF8"/>
          </a:solidFill>
          <a:ln w="12700">
            <a:solidFill>
              <a:srgbClr val="E2D4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412480" y="1856232"/>
            <a:ext cx="658368" cy="0"/>
          </a:xfrm>
          <a:prstGeom prst="line">
            <a:avLst/>
          </a:prstGeom>
          <a:noFill/>
          <a:ln w="381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412480" y="203911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Option C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412480" y="246888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B5E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Avoid cards inside cards; one hierarchy is enough.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85800" y="4069080"/>
            <a:ext cx="2331720" cy="1143000"/>
          </a:xfrm>
          <a:prstGeom prst="roundRect">
            <a:avLst>
              <a:gd name="adj" fmla="val 6400"/>
            </a:avLst>
          </a:prstGeom>
          <a:solidFill>
            <a:srgbClr val="FFFDF8"/>
          </a:solidFill>
          <a:ln w="12700">
            <a:solidFill>
              <a:srgbClr val="E2D4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914400" y="4325112"/>
            <a:ext cx="658368" cy="0"/>
          </a:xfrm>
          <a:prstGeom prst="line">
            <a:avLst/>
          </a:prstGeom>
          <a:noFill/>
          <a:ln w="381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14400" y="450799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Capability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14400" y="4937760"/>
            <a:ext cx="1874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B5E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it does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74720" y="4069080"/>
            <a:ext cx="2331720" cy="1143000"/>
          </a:xfrm>
          <a:prstGeom prst="roundRect">
            <a:avLst>
              <a:gd name="adj" fmla="val 6400"/>
            </a:avLst>
          </a:prstGeom>
          <a:solidFill>
            <a:srgbClr val="FFFDF8"/>
          </a:solidFill>
          <a:ln w="12700">
            <a:solidFill>
              <a:srgbClr val="E2D4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703320" y="4325112"/>
            <a:ext cx="658368" cy="0"/>
          </a:xfrm>
          <a:prstGeom prst="line">
            <a:avLst/>
          </a:prstGeom>
          <a:noFill/>
          <a:ln w="381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703320" y="450799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703320" y="4937760"/>
            <a:ext cx="1874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B5E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could fail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63640" y="4069080"/>
            <a:ext cx="2331720" cy="1143000"/>
          </a:xfrm>
          <a:prstGeom prst="roundRect">
            <a:avLst>
              <a:gd name="adj" fmla="val 6400"/>
            </a:avLst>
          </a:prstGeom>
          <a:solidFill>
            <a:srgbClr val="FFFDF8"/>
          </a:solidFill>
          <a:ln w="12700">
            <a:solidFill>
              <a:srgbClr val="E2D4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492240" y="4325112"/>
            <a:ext cx="658368" cy="0"/>
          </a:xfrm>
          <a:prstGeom prst="line">
            <a:avLst/>
          </a:prstGeom>
          <a:noFill/>
          <a:ln w="381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492240" y="450799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Owner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492240" y="4937760"/>
            <a:ext cx="1874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B5E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 decides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9052560" y="4069080"/>
            <a:ext cx="2331720" cy="1143000"/>
          </a:xfrm>
          <a:prstGeom prst="roundRect">
            <a:avLst>
              <a:gd name="adj" fmla="val 6400"/>
            </a:avLst>
          </a:prstGeom>
          <a:solidFill>
            <a:srgbClr val="FFFDF8"/>
          </a:solidFill>
          <a:ln w="12700">
            <a:solidFill>
              <a:srgbClr val="E2D4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9281160" y="4325112"/>
            <a:ext cx="658368" cy="0"/>
          </a:xfrm>
          <a:prstGeom prst="line">
            <a:avLst/>
          </a:prstGeom>
          <a:noFill/>
          <a:ln w="381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9281160" y="450799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Metric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281160" y="4937760"/>
            <a:ext cx="1874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B5E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success is measured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11480" y="644652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5E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Warm Editorial Template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11384280" y="6327648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Charts should prove one message, not display every number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12648" y="914400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5E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annotations instead of long legends.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94360" y="1216152"/>
            <a:ext cx="1920240" cy="0"/>
          </a:xfrm>
          <a:prstGeom prst="line">
            <a:avLst/>
          </a:prstGeom>
          <a:noFill/>
          <a:ln w="254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5" name="Chart 0"/>
          <p:cNvGraphicFramePr/>
          <p:nvPr/>
        </p:nvGraphicFramePr>
        <p:xfrm>
          <a:off x="777240" y="1645920"/>
          <a:ext cx="4892040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6400800" y="1783080"/>
            <a:ext cx="4434840" cy="1097280"/>
          </a:xfrm>
          <a:prstGeom prst="roundRect">
            <a:avLst>
              <a:gd name="adj" fmla="val 6667"/>
            </a:avLst>
          </a:prstGeom>
          <a:solidFill>
            <a:srgbClr val="FFFDF8"/>
          </a:solidFill>
          <a:ln w="12700">
            <a:solidFill>
              <a:srgbClr val="E2D4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6629400" y="2039112"/>
            <a:ext cx="658368" cy="0"/>
          </a:xfrm>
          <a:prstGeom prst="line">
            <a:avLst/>
          </a:prstGeom>
          <a:noFill/>
          <a:ln w="381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629400" y="222199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Main message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629400" y="2651760"/>
            <a:ext cx="39776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B5E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selected option wins on fit and scale; risk requires mitigation, not rejection.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6492240" y="3429000"/>
            <a:ext cx="73152" cy="73152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675120" y="342900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Title states the chart conclusion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492240" y="3867912"/>
            <a:ext cx="73152" cy="73152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675120" y="382219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accent color carries the primary series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6492240" y="4306824"/>
            <a:ext cx="73152" cy="73152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675120" y="4215384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Callouts explain implications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6492240" y="4745736"/>
            <a:ext cx="73152" cy="73152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6675120" y="4608576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Footnotes stay below the visual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411480" y="644652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5E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Warm Editorial Template</a:t>
            </a:r>
            <a:endParaRPr lang="en-US" sz="700" dirty="0"/>
          </a:p>
        </p:txBody>
      </p:sp>
      <p:sp>
        <p:nvSpPr>
          <p:cNvPr id="19" name="Text 16"/>
          <p:cNvSpPr/>
          <p:nvPr/>
        </p:nvSpPr>
        <p:spPr>
          <a:xfrm>
            <a:off x="11384280" y="6327648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Diagram layouts need clear flow and few objects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12648" y="914400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5E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Place connectors behind nodes and avoid crossing labels.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94360" y="1216152"/>
            <a:ext cx="1920240" cy="0"/>
          </a:xfrm>
          <a:prstGeom prst="line">
            <a:avLst/>
          </a:prstGeom>
          <a:noFill/>
          <a:ln w="254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286000" y="2788920"/>
            <a:ext cx="1828800" cy="0"/>
          </a:xfrm>
          <a:prstGeom prst="line">
            <a:avLst/>
          </a:prstGeom>
          <a:noFill/>
          <a:ln w="25400">
            <a:solidFill>
              <a:srgbClr val="B4530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892040" y="2788920"/>
            <a:ext cx="1828800" cy="0"/>
          </a:xfrm>
          <a:prstGeom prst="line">
            <a:avLst/>
          </a:prstGeom>
          <a:noFill/>
          <a:ln w="25400">
            <a:solidFill>
              <a:srgbClr val="B4530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498080" y="2788920"/>
            <a:ext cx="1828800" cy="0"/>
          </a:xfrm>
          <a:prstGeom prst="line">
            <a:avLst/>
          </a:prstGeom>
          <a:noFill/>
          <a:ln w="25400">
            <a:solidFill>
              <a:srgbClr val="B4530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85800" y="2148840"/>
            <a:ext cx="1828800" cy="1234440"/>
          </a:xfrm>
          <a:prstGeom prst="roundRect">
            <a:avLst>
              <a:gd name="adj" fmla="val 5926"/>
            </a:avLst>
          </a:prstGeom>
          <a:solidFill>
            <a:srgbClr val="FFFDF8"/>
          </a:solidFill>
          <a:ln w="12700">
            <a:solidFill>
              <a:srgbClr val="E2D4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914400" y="2404872"/>
            <a:ext cx="658368" cy="0"/>
          </a:xfrm>
          <a:prstGeom prst="line">
            <a:avLst/>
          </a:prstGeom>
          <a:noFill/>
          <a:ln w="381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14400" y="25877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Input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30175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B5E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Requests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291840" y="2148840"/>
            <a:ext cx="1828800" cy="1234440"/>
          </a:xfrm>
          <a:prstGeom prst="roundRect">
            <a:avLst>
              <a:gd name="adj" fmla="val 5926"/>
            </a:avLst>
          </a:prstGeom>
          <a:solidFill>
            <a:srgbClr val="FFFDF8"/>
          </a:solidFill>
          <a:ln w="12700">
            <a:solidFill>
              <a:srgbClr val="E2D4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520440" y="2404872"/>
            <a:ext cx="658368" cy="0"/>
          </a:xfrm>
          <a:prstGeom prst="line">
            <a:avLst/>
          </a:prstGeom>
          <a:noFill/>
          <a:ln w="381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520440" y="25877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Planner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520440" y="30175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B5E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Intent + plan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897880" y="2148840"/>
            <a:ext cx="1828800" cy="1234440"/>
          </a:xfrm>
          <a:prstGeom prst="roundRect">
            <a:avLst>
              <a:gd name="adj" fmla="val 5926"/>
            </a:avLst>
          </a:prstGeom>
          <a:solidFill>
            <a:srgbClr val="FFFDF8"/>
          </a:solidFill>
          <a:ln w="12700">
            <a:solidFill>
              <a:srgbClr val="E2D4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126480" y="2404872"/>
            <a:ext cx="658368" cy="0"/>
          </a:xfrm>
          <a:prstGeom prst="line">
            <a:avLst/>
          </a:prstGeom>
          <a:noFill/>
          <a:ln w="381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126480" y="25877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Workers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126480" y="30175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B5E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Tools + models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8503920" y="2148840"/>
            <a:ext cx="1828800" cy="1234440"/>
          </a:xfrm>
          <a:prstGeom prst="roundRect">
            <a:avLst>
              <a:gd name="adj" fmla="val 5926"/>
            </a:avLst>
          </a:prstGeom>
          <a:solidFill>
            <a:srgbClr val="FFFDF8"/>
          </a:solidFill>
          <a:ln w="12700">
            <a:solidFill>
              <a:srgbClr val="E2D4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8732520" y="2404872"/>
            <a:ext cx="658368" cy="0"/>
          </a:xfrm>
          <a:prstGeom prst="line">
            <a:avLst/>
          </a:prstGeom>
          <a:noFill/>
          <a:ln w="381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732520" y="25877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Aggregator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732520" y="30175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B5E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answer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822960" y="457200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5E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this for architecture, operating model, dependency, and process slides.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11480" y="644652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5E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Warm Editorial Template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11384280" y="6327648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Image treatments should feel intentional and restrained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12648" y="914400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5E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crops, masks, and captions; avoid decorative stock clutter.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94360" y="1216152"/>
            <a:ext cx="1920240" cy="0"/>
          </a:xfrm>
          <a:prstGeom prst="line">
            <a:avLst/>
          </a:prstGeom>
          <a:noFill/>
          <a:ln w="254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77240" y="1600200"/>
            <a:ext cx="4663440" cy="3383280"/>
          </a:xfrm>
          <a:prstGeom prst="roundRect">
            <a:avLst>
              <a:gd name="adj" fmla="val 2703"/>
            </a:avLst>
          </a:prstGeom>
          <a:solidFill>
            <a:srgbClr val="FFFDF8"/>
          </a:solidFill>
          <a:ln w="12700">
            <a:solidFill>
              <a:srgbClr val="E2D4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60120" y="1783080"/>
            <a:ext cx="4297680" cy="2514600"/>
          </a:xfrm>
          <a:prstGeom prst="rect">
            <a:avLst/>
          </a:prstGeom>
          <a:solidFill>
            <a:srgbClr val="E2D4C2"/>
          </a:solidFill>
          <a:ln w="12700">
            <a:solidFill>
              <a:srgbClr val="E2D4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188720" y="27432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5E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16:9 image crop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960120" y="4297680"/>
            <a:ext cx="4297680" cy="457200"/>
          </a:xfrm>
          <a:prstGeom prst="rect">
            <a:avLst/>
          </a:prstGeom>
          <a:solidFill>
            <a:srgbClr val="B45309">
              <a:alpha val="90000"/>
            </a:srgbClr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78992" y="4453128"/>
            <a:ext cx="4023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6F0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Caption strip: explain the relevance, not the image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6172200" y="1691640"/>
            <a:ext cx="4480560" cy="960120"/>
          </a:xfrm>
          <a:prstGeom prst="roundRect">
            <a:avLst>
              <a:gd name="adj" fmla="val 7619"/>
            </a:avLst>
          </a:prstGeom>
          <a:solidFill>
            <a:srgbClr val="FFFDF8"/>
          </a:solidFill>
          <a:ln w="12700">
            <a:solidFill>
              <a:srgbClr val="E2D4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400800" y="1947672"/>
            <a:ext cx="658368" cy="0"/>
          </a:xfrm>
          <a:prstGeom prst="line">
            <a:avLst/>
          </a:prstGeom>
          <a:noFill/>
          <a:ln w="381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800" y="213055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Allowed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0" y="2560320"/>
            <a:ext cx="402336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B5E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Full-bleed hero, side crop, circular portrait, caption overlay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172200" y="2971800"/>
            <a:ext cx="4480560" cy="960120"/>
          </a:xfrm>
          <a:prstGeom prst="roundRect">
            <a:avLst>
              <a:gd name="adj" fmla="val 7619"/>
            </a:avLst>
          </a:prstGeom>
          <a:solidFill>
            <a:srgbClr val="FFFDF8"/>
          </a:solidFill>
          <a:ln w="12700">
            <a:solidFill>
              <a:srgbClr val="E2D4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400800" y="3227832"/>
            <a:ext cx="658368" cy="0"/>
          </a:xfrm>
          <a:prstGeom prst="line">
            <a:avLst/>
          </a:prstGeom>
          <a:noFill/>
          <a:ln w="381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00800" y="341071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Avoid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0" y="3840480"/>
            <a:ext cx="402336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B5E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Unrelated stock photos, busy collages, low contrast text on image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172200" y="4251960"/>
            <a:ext cx="4480560" cy="960120"/>
          </a:xfrm>
          <a:prstGeom prst="roundRect">
            <a:avLst>
              <a:gd name="adj" fmla="val 7619"/>
            </a:avLst>
          </a:prstGeom>
          <a:solidFill>
            <a:srgbClr val="FFFDF8"/>
          </a:solidFill>
          <a:ln w="12700">
            <a:solidFill>
              <a:srgbClr val="E2D4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400800" y="4507992"/>
            <a:ext cx="658368" cy="0"/>
          </a:xfrm>
          <a:prstGeom prst="line">
            <a:avLst/>
          </a:prstGeom>
          <a:noFill/>
          <a:ln w="381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00800" y="469087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Rule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0" y="5120640"/>
            <a:ext cx="402336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B5E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Image supports the argument; it never substitutes for the argument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11480" y="644652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5E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Warm Editorial Template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11384280" y="6327648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Comparison slides must force a recommendation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12648" y="914400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5E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criteria that reveal trade-offs.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94360" y="1216152"/>
            <a:ext cx="1920240" cy="0"/>
          </a:xfrm>
          <a:prstGeom prst="line">
            <a:avLst/>
          </a:prstGeom>
          <a:noFill/>
          <a:ln w="254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85800" y="1508760"/>
            <a:ext cx="1920240" cy="38404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58952" y="1618488"/>
            <a:ext cx="17373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6F0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Criteria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971800" y="1508760"/>
            <a:ext cx="2057400" cy="38404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044952" y="1618488"/>
            <a:ext cx="18745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6F0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 A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440680" y="1508760"/>
            <a:ext cx="2057400" cy="38404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513832" y="1618488"/>
            <a:ext cx="18745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6F0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 B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7909560" y="1508760"/>
            <a:ext cx="2057400" cy="38404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982712" y="1618488"/>
            <a:ext cx="18745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6F0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 C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77240" y="2057400"/>
            <a:ext cx="1828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 fit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063240" y="2039112"/>
            <a:ext cx="1874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5E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532120" y="2039112"/>
            <a:ext cx="1874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4530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Moderate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8001000" y="2039112"/>
            <a:ext cx="1874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5E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Weak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85800" y="2359152"/>
            <a:ext cx="9326880" cy="0"/>
          </a:xfrm>
          <a:prstGeom prst="line">
            <a:avLst/>
          </a:prstGeom>
          <a:noFill/>
          <a:ln w="8890">
            <a:solidFill>
              <a:srgbClr val="E2D4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77240" y="2697480"/>
            <a:ext cx="1828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Speed to value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063240" y="2679192"/>
            <a:ext cx="1874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5E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Moderate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532120" y="2679192"/>
            <a:ext cx="1874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4530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Weak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8001000" y="2679192"/>
            <a:ext cx="1874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5E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85800" y="2999232"/>
            <a:ext cx="9326880" cy="0"/>
          </a:xfrm>
          <a:prstGeom prst="line">
            <a:avLst/>
          </a:prstGeom>
          <a:noFill/>
          <a:ln w="8890">
            <a:solidFill>
              <a:srgbClr val="E2D4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77240" y="3337560"/>
            <a:ext cx="1828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063240" y="3319272"/>
            <a:ext cx="1874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5E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Weak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532120" y="3319272"/>
            <a:ext cx="1874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4530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8001000" y="3319272"/>
            <a:ext cx="1874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5E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85800" y="3639312"/>
            <a:ext cx="9326880" cy="0"/>
          </a:xfrm>
          <a:prstGeom prst="line">
            <a:avLst/>
          </a:prstGeom>
          <a:noFill/>
          <a:ln w="8890">
            <a:solidFill>
              <a:srgbClr val="E2D4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77240" y="3977640"/>
            <a:ext cx="1828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Long-term cost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063240" y="3959352"/>
            <a:ext cx="1874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5E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5532120" y="3959352"/>
            <a:ext cx="1874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4530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8001000" y="3959352"/>
            <a:ext cx="1874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5E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Moderate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85800" y="4279392"/>
            <a:ext cx="9326880" cy="0"/>
          </a:xfrm>
          <a:prstGeom prst="line">
            <a:avLst/>
          </a:prstGeom>
          <a:noFill/>
          <a:ln w="8890">
            <a:solidFill>
              <a:srgbClr val="E2D4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685800" y="4892040"/>
            <a:ext cx="10149840" cy="731520"/>
          </a:xfrm>
          <a:prstGeom prst="roundRect">
            <a:avLst>
              <a:gd name="adj" fmla="val 10000"/>
            </a:avLst>
          </a:prstGeom>
          <a:solidFill>
            <a:srgbClr val="FFFDF8"/>
          </a:solidFill>
          <a:ln w="12700">
            <a:solidFill>
              <a:srgbClr val="E2D4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914400" y="5148072"/>
            <a:ext cx="658368" cy="0"/>
          </a:xfrm>
          <a:prstGeom prst="line">
            <a:avLst/>
          </a:prstGeom>
          <a:noFill/>
          <a:ln w="381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914400" y="533095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Recommendation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914400" y="5760720"/>
            <a:ext cx="969264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B5E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 Option B only if speed outranks control; otherwise Option A is the durable foundation.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11480" y="644652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5E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Warm Editorial Template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11384280" y="6327648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inventory and rules of use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12648" y="914400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5E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Copy these slide types to build consistent decks quickly.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94360" y="1216152"/>
            <a:ext cx="1920240" cy="0"/>
          </a:xfrm>
          <a:prstGeom prst="line">
            <a:avLst/>
          </a:prstGeom>
          <a:noFill/>
          <a:ln w="254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1481328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4530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80160" y="1463040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Cover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035040" y="1481328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4530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537960" y="1463040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system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77240" y="2157984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4530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280160" y="2139696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Agenda / takeaway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035040" y="2157984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4530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537960" y="2139696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divider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77240" y="2834640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4530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280160" y="2816352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3-up / 4-up cards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035040" y="2834640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4530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537960" y="2816352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Chart proof point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777240" y="3511296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4530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280160" y="3493008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 flow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035040" y="3511296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4530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537960" y="3493008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Image treatment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77240" y="4187952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4530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280160" y="4169664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Comparison matrix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035040" y="4187952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4530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537960" y="4169664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Closing / decision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11480" y="644652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5E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Warm Editorial Template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11384280" y="6327648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594</Words>
  <Application>Microsoft Macintosh PowerPoint</Application>
  <PresentationFormat>Widescreen</PresentationFormat>
  <Paragraphs>164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Arial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Warm Editorial PowerPoint Template</dc:title>
  <dc:subject>Warm Editorial PowerPoint Template</dc:subject>
  <dc:creator>OpenAI</dc:creator>
  <cp:lastModifiedBy>Subhamoy Chakraborty</cp:lastModifiedBy>
  <cp:revision>2</cp:revision>
  <dcterms:created xsi:type="dcterms:W3CDTF">2026-06-14T15:14:19Z</dcterms:created>
  <dcterms:modified xsi:type="dcterms:W3CDTF">2026-06-14T16:30:09Z</dcterms:modified>
</cp:coreProperties>
</file>