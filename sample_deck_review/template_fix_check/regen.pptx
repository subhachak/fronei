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8"/>
    <p:sldId id="257" r:id="rId7"/>
    <p:sldId id="258" r:id="rId6"/>
    <p:sldId id="259" r:id="rId5"/>
    <p:sldId id="260" r:id="rId4"/>
  </p:sldIdLst>
  <p:notesMasterIdLst>
    <p:notesMasterId r:id="rId9"/>
  </p:notesMasterIdLst>
  <p:sldSz cx="12191695" cy="6858000"/>
  <p:notesSz cx="8229600" cy="14630400"/>
  <p:embeddedFontLst>
    <p:embeddedFont>
      <p:font typeface="PT Serif"/>
      <p:regular r:id="rId14"/>
    </p:embeddedFont>
    <p:embeddedFont>
      <p:font typeface="PT Serif"/>
      <p:regular r:id="rId15"/>
    </p:embeddedFont>
    <p:embeddedFont>
      <p:font typeface="PT Serif"/>
      <p:regular r:id="rId16"/>
    </p:embeddedFont>
    <p:embeddedFont>
      <p:font typeface="PT Serif"/>
      <p:regular r:id="rId17"/>
    </p:embeddedFont>
    <p:embeddedFont>
      <p:font typeface="DM Sans"/>
      <p:regular r:id="rId18"/>
    </p:embeddedFont>
    <p:embeddedFont>
      <p:font typeface="DM Sans"/>
      <p:regular r:id="rId19"/>
    </p:embeddedFont>
    <p:embeddedFont>
      <p:font typeface="DM Sans"/>
      <p:regular r:id="rId20"/>
    </p:embeddedFont>
    <p:embeddedFont>
      <p:font typeface="DM Sans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1" i="0" sz="2400">
                <a:solidFill>
                  <a:srgbClr val="282421"/>
                </a:solidFill>
                <a:latin typeface="Georgia"/>
              </a:rPr>
              <a:t>Enterprise GenAI Governance Operating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914400" cy="36576"/>
          </a:xfrm>
          <a:prstGeom prst="rect">
            <a:avLst/>
          </a:prstGeom>
          <a:solidFill>
            <a:srgbClr val="E0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sz="1600">
                <a:solidFill>
                  <a:srgbClr val="1F3B5C"/>
                </a:solidFill>
                <a:latin typeface="Calibri"/>
              </a:rPr>
              <a:t>Recommendation: federated operating model with central policy gateway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1" i="0" sz="2800">
                <a:solidFill>
                  <a:srgbClr val="282421"/>
                </a:solidFill>
                <a:latin typeface="Georgia"/>
              </a:rPr>
              <a:t>Executive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914400" cy="36576"/>
          </a:xfrm>
          <a:prstGeom prst="rect">
            <a:avLst/>
          </a:prstGeom>
          <a:solidFill>
            <a:srgbClr val="E0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1" i="0" sz="2800">
                <a:solidFill>
                  <a:srgbClr val="282421"/>
                </a:solidFill>
                <a:latin typeface="Georgia"/>
              </a:rPr>
              <a:t>Operating Model 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914400" cy="36576"/>
          </a:xfrm>
          <a:prstGeom prst="rect">
            <a:avLst/>
          </a:prstGeom>
          <a:solidFill>
            <a:srgbClr val="E0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1" i="0" sz="2000">
                <a:solidFill>
                  <a:srgbClr val="282421"/>
                </a:solidFill>
                <a:latin typeface="Georgia"/>
              </a:rPr>
              <a:t>Recommend a federated operating model: central policy gateway + autonomous delivery teams across all eight domains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914400" cy="36576"/>
          </a:xfrm>
          <a:prstGeom prst="rect">
            <a:avLst/>
          </a:prstGeom>
          <a:solidFill>
            <a:srgbClr val="E0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2800"/>
              <a:t>Federated model reduces approval bottlenecks while preserving central audit/policy enfo...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01752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i="0" sz="1300">
                <a:solidFill>
                  <a:srgbClr val="282421"/>
                </a:solidFill>
                <a:latin typeface="Calibri"/>
              </a:rPr>
              <a:t>Centralized control creates 6-8 week approval bottlenecks; full decentralization produc...</a:t>
            </a:r>
          </a:p>
          <a:p>
            <a:pPr/>
            <a:r>
              <a:rPr b="0" i="0" sz="1300">
                <a:solidFill>
                  <a:srgbClr val="282421"/>
                </a:solidFill>
                <a:latin typeface="Calibri"/>
              </a:rPr>
              <a:t>Federated structure enables the Q3 pilot cohort while maintaining policy, audit, and PI...</a:t>
            </a:r>
          </a:p>
          <a:p>
            <a:pPr/>
            <a:r>
              <a:rPr b="0" i="0" sz="1300">
                <a:solidFill>
                  <a:srgbClr val="282421"/>
                </a:solidFill>
                <a:latin typeface="Calibri"/>
              </a:rPr>
              <a:t>Governance overhead is front-loaded and recoverable; breakeven at month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1" i="0" sz="2000">
                <a:solidFill>
                  <a:srgbClr val="282421"/>
                </a:solidFill>
                <a:latin typeface="Georgia"/>
              </a:rPr>
              <a:t>Three operating model options compared across governance, speed, and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914400" cy="36576"/>
          </a:xfrm>
          <a:prstGeom prst="rect">
            <a:avLst/>
          </a:prstGeom>
          <a:solidFill>
            <a:srgbClr val="E0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444240" cy="4480560"/>
          </a:xfrm>
          <a:prstGeom prst="roundRect">
            <a:avLst/>
          </a:prstGeom>
          <a:solidFill>
            <a:srgbClr val="FFFDFC"/>
          </a:solidFill>
          <a:ln>
            <a:solidFill>
              <a:srgbClr val="D8C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73352"/>
            <a:ext cx="3115056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500">
                <a:solidFill>
                  <a:srgbClr val="282421"/>
                </a:solidFill>
                <a:latin typeface="Georgia"/>
              </a:rPr>
              <a:t>Centralized</a:t>
            </a:r>
          </a:p>
          <a:p>
            <a:pPr/>
            <a:r>
              <a:rPr b="0" i="0" sz="1300">
                <a:solidFill>
                  <a:srgbClr val="282421"/>
                </a:solidFill>
                <a:latin typeface="Calibri"/>
              </a:rPr>
              <a:t>Single governance team owns all approvals</a:t>
            </a:r>
          </a:p>
          <a:p>
            <a:pPr/>
            <a:r>
              <a:rPr b="0" i="0" sz="1300">
                <a:solidFill>
                  <a:srgbClr val="282421"/>
                </a:solidFill>
                <a:latin typeface="Calibri"/>
              </a:rPr>
              <a:t>6-8 week approval cycles at scale</a:t>
            </a:r>
          </a:p>
          <a:p>
            <a:pPr/>
            <a:r>
              <a:rPr b="0" i="0" sz="1300">
                <a:solidFill>
                  <a:srgbClr val="282421"/>
                </a:solidFill>
                <a:latin typeface="Calibri"/>
              </a:rPr>
              <a:t>Does not scale past 3-4 concurrent use cases</a:t>
            </a:r>
          </a:p>
          <a:p>
            <a:pPr/>
            <a:r>
              <a:rPr b="0" i="0" sz="1300">
                <a:solidFill>
                  <a:srgbClr val="282421"/>
                </a:solidFill>
                <a:latin typeface="Calibri"/>
              </a:rPr>
              <a:t>Low policy variance; high delivery bottleneck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508760"/>
            <a:ext cx="3444240" cy="4480560"/>
          </a:xfrm>
          <a:prstGeom prst="roundRect">
            <a:avLst/>
          </a:prstGeom>
          <a:solidFill>
            <a:srgbClr val="FFFDFC"/>
          </a:solidFill>
          <a:ln>
            <a:solidFill>
              <a:srgbClr val="D8C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3232" y="1673352"/>
            <a:ext cx="3115056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500">
                <a:solidFill>
                  <a:srgbClr val="282421"/>
                </a:solidFill>
                <a:latin typeface="Georgia"/>
              </a:rPr>
              <a:t>Federated (Recommended)</a:t>
            </a:r>
          </a:p>
          <a:p>
            <a:pPr/>
            <a:r>
              <a:rPr b="0" i="0" sz="1300">
                <a:solidFill>
                  <a:srgbClr val="282421"/>
                </a:solidFill>
                <a:latin typeface="Calibri"/>
              </a:rPr>
              <a:t>Central policy gateway + domain-embedded AI leads</a:t>
            </a:r>
          </a:p>
          <a:p>
            <a:pPr/>
            <a:r>
              <a:rPr b="0" i="0" sz="1300">
                <a:solidFill>
                  <a:srgbClr val="282421"/>
                </a:solidFill>
                <a:latin typeface="Calibri"/>
              </a:rPr>
              <a:t>Governance gate for model promotion; delivery autonomy within guardrails</a:t>
            </a:r>
          </a:p>
          <a:p>
            <a:pPr/>
            <a:r>
              <a:rPr b="0" i="0" sz="1300">
                <a:solidFill>
                  <a:srgbClr val="282421"/>
                </a:solidFill>
                <a:latin typeface="Calibri"/>
              </a:rPr>
              <a:t>Scales to 10+ concurrent workstreams without central queue</a:t>
            </a:r>
          </a:p>
          <a:p>
            <a:pPr/>
            <a:r>
              <a:rPr b="0" i="0" sz="1300">
                <a:solidFill>
                  <a:srgbClr val="282421"/>
                </a:solidFill>
                <a:latin typeface="Calibri"/>
              </a:rPr>
              <a:t>Accountability stays with domain; audit trail maintained centrally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2920" y="1508760"/>
            <a:ext cx="3444240" cy="4480560"/>
          </a:xfrm>
          <a:prstGeom prst="roundRect">
            <a:avLst/>
          </a:prstGeom>
          <a:solidFill>
            <a:srgbClr val="FFFDFC"/>
          </a:solidFill>
          <a:ln>
            <a:solidFill>
              <a:srgbClr val="D8C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7512" y="1673352"/>
            <a:ext cx="3115056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500">
                <a:solidFill>
                  <a:srgbClr val="282421"/>
                </a:solidFill>
                <a:latin typeface="Georgia"/>
              </a:rPr>
              <a:t>Decentralized</a:t>
            </a:r>
          </a:p>
          <a:p>
            <a:pPr/>
            <a:r>
              <a:rPr b="0" i="0" sz="1300">
                <a:solidFill>
                  <a:srgbClr val="282421"/>
                </a:solidFill>
                <a:latin typeface="Calibri"/>
              </a:rPr>
              <a:t>Each domain owns end-to-end governance</a:t>
            </a:r>
          </a:p>
          <a:p>
            <a:pPr/>
            <a:r>
              <a:rPr b="0" i="0" sz="1300">
                <a:solidFill>
                  <a:srgbClr val="282421"/>
                </a:solidFill>
                <a:latin typeface="Calibri"/>
              </a:rPr>
              <a:t>Maximum short-term delivery speed</a:t>
            </a:r>
          </a:p>
          <a:p>
            <a:pPr/>
            <a:r>
              <a:rPr b="0" i="0" sz="1300">
                <a:solidFill>
                  <a:srgbClr val="282421"/>
                </a:solidFill>
                <a:latin typeface="Calibri"/>
              </a:rPr>
              <a:t>No consistent policy enforcement; shadow AI risk is high</a:t>
            </a:r>
          </a:p>
          <a:p>
            <a:pPr/>
            <a:r>
              <a:rPr b="0" i="0" sz="1300">
                <a:solidFill>
                  <a:srgbClr val="282421"/>
                </a:solidFill>
                <a:latin typeface="Calibri"/>
              </a:rPr>
              <a:t>PII and model drift incidents likely within 2 quarters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2026-01-22T18:21:50Z</dcterms:created>
  <dcterms:modified xsi:type="dcterms:W3CDTF">2026-01-22T18:21:50Z</dcterms:modified>
</cp:coreProperties>
</file>